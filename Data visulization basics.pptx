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8" r:id="rId2"/>
    <p:sldId id="279" r:id="rId3"/>
    <p:sldId id="280" r:id="rId4"/>
    <p:sldId id="293" r:id="rId5"/>
    <p:sldId id="294" r:id="rId6"/>
    <p:sldId id="281" r:id="rId7"/>
    <p:sldId id="296" r:id="rId8"/>
    <p:sldId id="288" r:id="rId9"/>
    <p:sldId id="297" r:id="rId10"/>
    <p:sldId id="289" r:id="rId11"/>
    <p:sldId id="295" r:id="rId12"/>
    <p:sldId id="290" r:id="rId13"/>
    <p:sldId id="298" r:id="rId14"/>
    <p:sldId id="291" r:id="rId15"/>
    <p:sldId id="299" r:id="rId16"/>
    <p:sldId id="292" r:id="rId17"/>
    <p:sldId id="282" r:id="rId18"/>
    <p:sldId id="283" r:id="rId19"/>
    <p:sldId id="284" r:id="rId20"/>
    <p:sldId id="285" r:id="rId21"/>
    <p:sldId id="28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EDD"/>
    <a:srgbClr val="CDA6CE"/>
    <a:srgbClr val="FBC5EF"/>
    <a:srgbClr val="FAC2D2"/>
    <a:srgbClr val="EE2E1A"/>
    <a:srgbClr val="996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45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51460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Basics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914400" y="3447288"/>
            <a:ext cx="10362895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E8C9FE-1AA1-23D4-3C64-0762825B9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57" y="3794495"/>
            <a:ext cx="11179509" cy="30635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756209" y="1600200"/>
            <a:ext cx="10886846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Overview: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Practice building charts with the Tips dataset, loaded straight from Seaborn using sns.load_dataset("tips").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Focus: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is not about deep analysis — it’s about getting comfortable with the syntax and options that Matplotlib and Seaborn each offer.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Approach: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the same set of charts in both libraries, side by side, to see how each one handles the same task.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756209" y="1600200"/>
            <a:ext cx="10886846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Practice core chart types: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histograms, bar charts, box plots, scatter plots, and a correlation heatmap.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Compare two libraries: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 the same chart in Matplotlib and Seaborn to see how each API approaches the same task.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Control the look: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Customize labels, titles, font sizes, and color palettes on every chart you build.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4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209" y="1650000"/>
          <a:ext cx="10886846" cy="4549998"/>
        </p:xfrm>
        <a:graphic>
          <a:graphicData uri="http://schemas.openxmlformats.org/drawingml/2006/table">
            <a:tbl>
              <a:tblPr bandRow="1"/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6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833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64008" marR="64008" marT="36576" marB="36576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Covers</a:t>
                      </a:r>
                    </a:p>
                  </a:txBody>
                  <a:tcPr marL="64008" marR="64008" marT="36576" marB="36576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33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Matplotlib Documentation (official docs)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Complete reference for the core plotting library that every other Python visualization tool builds on.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33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Seaborn Documentation (official docs)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High-level statistical plotting built on Matplotlib, with cleaner defaults out of the box.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33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Pandas — Chart Visualization Guide (official docs)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Shows how pandas’ built-in .plot() method wraps Matplotlib for quick exploratory charts.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33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Python Data Science Handbook, Ch. 4 — J. VanderPlas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 widely used reference for understanding Matplotlib’s object-oriented plotting model.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33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“Introduction to Data Visualization in Python” — Towards Data Science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 similar walkthrough project comparing chart types across different datasets.</a:t>
                      </a:r>
                    </a:p>
                  </a:txBody>
                  <a:tcPr marL="64008" marR="64008"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756209" y="1600200"/>
            <a:ext cx="10886846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Environment: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 inside a Jupyter Notebook, importing pandas, matplotlib.pyplot, and seaborn at the top of the file.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Structure: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notebook section per chart type — build the Matplotlib version first, then the Seaborn version, so the two sit side by side.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Data handling: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Load the dataset directly with sns.load_dataset("tips") — it’s already clean, so no preprocessing is needed before plotting.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to Build</a:t>
            </a:r>
            <a:endParaRPr lang="en-US" sz="4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96000" y="1750000"/>
          <a:ext cx="9600000" cy="4200000"/>
        </p:xfrm>
        <a:graphic>
          <a:graphicData uri="http://schemas.openxmlformats.org/drawingml/2006/table">
            <a:tbl>
              <a:tblPr bandRow="1"/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Chart Type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Matplotlib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Seaborn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Histogram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plt.hist()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sns.histplot()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Bar Chart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plt.bar()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sns.barplot()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Box Plot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plt.boxplot()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sns.boxplot()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Scatter Plot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plt.scatter()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sns.scatterplot()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Correlation Heatmap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plt.imshow() + colorbar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000000"/>
                          </a:solidFill>
                          <a:latin typeface="Calibri"/>
                        </a:rPr>
                        <a:t>sns.heatmap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()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0633A4-529E-B45A-76D1-97D79E474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>
            <a:extLst>
              <a:ext uri="{FF2B5EF4-FFF2-40B4-BE49-F238E27FC236}">
                <a16:creationId xmlns:a16="http://schemas.microsoft.com/office/drawing/2014/main" id="{AF304FC1-B4E0-AB68-43A6-47264BCB9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>
            <a:extLst>
              <a:ext uri="{FF2B5EF4-FFF2-40B4-BE49-F238E27FC236}">
                <a16:creationId xmlns:a16="http://schemas.microsoft.com/office/drawing/2014/main" id="{345DF4C0-B2DE-492D-95C0-3E4D64B5B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C9DC0DD-66E4-E283-5156-418250B23197}"/>
              </a:ext>
            </a:extLst>
          </p:cNvPr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DD3A9E-54D7-9F0C-14BE-47F4A49F3F80}"/>
              </a:ext>
            </a:extLst>
          </p:cNvPr>
          <p:cNvSpPr txBox="1"/>
          <p:nvPr/>
        </p:nvSpPr>
        <p:spPr>
          <a:xfrm>
            <a:off x="1246909" y="2019992"/>
            <a:ext cx="10449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Task:</a:t>
            </a:r>
            <a:r>
              <a:rPr lang="en-IN" dirty="0"/>
              <a:t> Visualize the distribution of a numeric column (</a:t>
            </a:r>
            <a:r>
              <a:rPr lang="en-IN" dirty="0" err="1"/>
              <a:t>total_bill</a:t>
            </a:r>
            <a:r>
              <a:rPr lang="en-IN" dirty="0"/>
              <a:t>) using both Matplotlib and Seaborn, comparing how each library handles binning and styling.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Specific Parameters:</a:t>
            </a:r>
            <a:r>
              <a:rPr lang="en-IN" dirty="0"/>
              <a:t> Column (</a:t>
            </a:r>
            <a:r>
              <a:rPr lang="en-IN" dirty="0" err="1"/>
              <a:t>total_bill</a:t>
            </a:r>
            <a:r>
              <a:rPr lang="en-IN" dirty="0"/>
              <a:t>), number of bins (20), fill </a:t>
            </a:r>
            <a:r>
              <a:rPr lang="en-IN" dirty="0" err="1"/>
              <a:t>color</a:t>
            </a:r>
            <a:r>
              <a:rPr lang="en-IN" dirty="0"/>
              <a:t>, edge </a:t>
            </a:r>
            <a:r>
              <a:rPr lang="en-IN" dirty="0" err="1"/>
              <a:t>color</a:t>
            </a:r>
            <a:r>
              <a:rPr lang="en-IN" dirty="0"/>
              <a:t>, axis labels, chart title.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Outcome:</a:t>
            </a:r>
            <a:r>
              <a:rPr lang="en-IN" dirty="0"/>
              <a:t> A clear histogram showing how bill amounts are spread across all recorded visits, built once in each library.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Outcome Parameters:</a:t>
            </a:r>
            <a:r>
              <a:rPr lang="en-IN" dirty="0"/>
              <a:t> Correct bin count and range, readable axis labels, consistent visual styling between both versions.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Techniques to be Used:</a:t>
            </a:r>
            <a:r>
              <a:rPr lang="en-IN" dirty="0"/>
              <a:t> </a:t>
            </a:r>
            <a:r>
              <a:rPr lang="en-IN" dirty="0" err="1"/>
              <a:t>plt.hist</a:t>
            </a:r>
            <a:r>
              <a:rPr lang="en-IN" dirty="0"/>
              <a:t>() in Matplotlib, </a:t>
            </a:r>
            <a:r>
              <a:rPr lang="en-IN" dirty="0" err="1"/>
              <a:t>sns.histplot</a:t>
            </a:r>
            <a:r>
              <a:rPr lang="en-IN" dirty="0"/>
              <a:t>() in Seaborn, dataset loaded via </a:t>
            </a:r>
            <a:r>
              <a:rPr lang="en-IN" dirty="0" err="1"/>
              <a:t>sns.load_dataset</a:t>
            </a:r>
            <a:r>
              <a:rPr lang="en-IN" dirty="0"/>
              <a:t>("tips").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67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Histogram</a:t>
            </a:r>
            <a:endParaRPr lang="en-US" sz="4400" dirty="0"/>
          </a:p>
        </p:txBody>
      </p:sp>
      <p:sp>
        <p:nvSpPr>
          <p:cNvPr id="5" name="Rounded Rectangle 4"/>
          <p:cNvSpPr/>
          <p:nvPr/>
        </p:nvSpPr>
        <p:spPr>
          <a:xfrm>
            <a:off x="756209" y="2150000"/>
            <a:ext cx="10886846" cy="4050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6209" y="2300000"/>
            <a:ext cx="10386846" cy="3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import seaborn as sns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tips = sns.load_dataset("tips")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5A18"/>
                </a:solidFill>
                <a:latin typeface="Consolas"/>
              </a:rPr>
              <a:t># Matplotlib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plt.hist(tips["total_bill"], bins=20,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        color="steelblue", edgecolor="white")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plt.title("Total Bill Distribution")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plt.xlabel("Total Bill ($)")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plt.ylabel("Frequency")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plt.show()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5C8A"/>
                </a:solidFill>
                <a:latin typeface="Consolas"/>
              </a:rPr>
              <a:t># Seaborn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sns.histplot(data=tips, x="total_bill",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            bins=20, color="teal")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plt.title("Total Bill Distribution")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plt.show()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209" y="1550000"/>
            <a:ext cx="10886846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Task: Visualize how total_bill values are distributed across all recorded visits.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6638B-4A1B-E70B-246F-6969A7A4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>
            <a:extLst>
              <a:ext uri="{FF2B5EF4-FFF2-40B4-BE49-F238E27FC236}">
                <a16:creationId xmlns:a16="http://schemas.microsoft.com/office/drawing/2014/main" id="{2E98F8FD-38D5-1E37-8111-B1DC34F2C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>
            <a:extLst>
              <a:ext uri="{FF2B5EF4-FFF2-40B4-BE49-F238E27FC236}">
                <a16:creationId xmlns:a16="http://schemas.microsoft.com/office/drawing/2014/main" id="{4DF99015-368D-36D6-C5B0-4D5CB6F9A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7148CEB-0122-870A-27B2-1FD7CAB3EC5A}"/>
              </a:ext>
            </a:extLst>
          </p:cNvPr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/>
              <a:t>MODULE 2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AC5329-1082-E07D-8831-EA3BE811CA11}"/>
              </a:ext>
            </a:extLst>
          </p:cNvPr>
          <p:cNvSpPr txBox="1"/>
          <p:nvPr/>
        </p:nvSpPr>
        <p:spPr>
          <a:xfrm>
            <a:off x="1172095" y="1870363"/>
            <a:ext cx="105322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Task:</a:t>
            </a:r>
            <a:r>
              <a:rPr lang="en-IN" dirty="0"/>
              <a:t> Summarize a categorical variable (day) against a numeric measure (average </a:t>
            </a:r>
            <a:r>
              <a:rPr lang="en-IN" dirty="0" err="1"/>
              <a:t>total_bill</a:t>
            </a:r>
            <a:r>
              <a:rPr lang="en-IN" dirty="0"/>
              <a:t>) using a bar chart in both libraries.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Specific Parameters:</a:t>
            </a:r>
            <a:r>
              <a:rPr lang="en-IN" dirty="0"/>
              <a:t> Grouping column (day), aggregated value (mean </a:t>
            </a:r>
            <a:r>
              <a:rPr lang="en-IN" dirty="0" err="1"/>
              <a:t>total_bill</a:t>
            </a:r>
            <a:r>
              <a:rPr lang="en-IN" dirty="0"/>
              <a:t>), bar </a:t>
            </a:r>
            <a:r>
              <a:rPr lang="en-IN" dirty="0" err="1"/>
              <a:t>color</a:t>
            </a:r>
            <a:r>
              <a:rPr lang="en-IN" dirty="0"/>
              <a:t>/palette, axis labels, chart title.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Outcome:</a:t>
            </a:r>
            <a:r>
              <a:rPr lang="en-IN" dirty="0"/>
              <a:t> A bar chart showing average spending by day, making it easy to compare days at a glance.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Outcome Parameters:</a:t>
            </a:r>
            <a:r>
              <a:rPr lang="en-IN" dirty="0"/>
              <a:t> Correct aggregation (</a:t>
            </a:r>
            <a:r>
              <a:rPr lang="en-IN" dirty="0" err="1"/>
              <a:t>groupby</a:t>
            </a:r>
            <a:r>
              <a:rPr lang="en-IN" dirty="0"/>
              <a:t> mean), accurate bar heights, clear category labels on the x-axis.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Techniques to be Used:</a:t>
            </a:r>
            <a:r>
              <a:rPr lang="en-IN" dirty="0"/>
              <a:t> pandas </a:t>
            </a:r>
            <a:r>
              <a:rPr lang="en-IN" dirty="0" err="1"/>
              <a:t>groupby</a:t>
            </a:r>
            <a:r>
              <a:rPr lang="en-IN" dirty="0"/>
              <a:t>(), </a:t>
            </a:r>
            <a:r>
              <a:rPr lang="en-IN" dirty="0" err="1"/>
              <a:t>plt.bar</a:t>
            </a:r>
            <a:r>
              <a:rPr lang="en-IN" dirty="0"/>
              <a:t>() in Matplotlib, </a:t>
            </a:r>
            <a:r>
              <a:rPr lang="en-IN" dirty="0" err="1"/>
              <a:t>sns.barplot</a:t>
            </a:r>
            <a:r>
              <a:rPr lang="en-IN" dirty="0"/>
              <a:t>() in Seaborn.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836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Bar Chart</a:t>
            </a:r>
            <a:endParaRPr lang="en-US" sz="4400" dirty="0"/>
          </a:p>
        </p:txBody>
      </p:sp>
      <p:sp>
        <p:nvSpPr>
          <p:cNvPr id="5" name="Rounded Rectangle 4"/>
          <p:cNvSpPr/>
          <p:nvPr/>
        </p:nvSpPr>
        <p:spPr>
          <a:xfrm>
            <a:off x="756209" y="2150000"/>
            <a:ext cx="10886846" cy="4050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6209" y="2300000"/>
            <a:ext cx="10386846" cy="3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import seaborn as sns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tips = sns.load_dataset("tips")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avg_bill = tips.groupby("day")["total_bill"].mean()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5A18"/>
                </a:solidFill>
                <a:latin typeface="Consolas"/>
              </a:rPr>
              <a:t># Matplotlib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plt.bar(avg_bill.index, avg_bill.values, color="coral")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plt.title("Average Bill by Day")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plt.xlabel("Day")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plt.ylabel("Average Total Bill ($)")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plt.show()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5C8A"/>
                </a:solidFill>
                <a:latin typeface="Consolas"/>
              </a:rPr>
              <a:t># Seaborn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sns.barplot(data=tips, x="day", y="total_bill",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           palette="pastel")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plt.title("Average Bill by Day")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plt.show()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209" y="1550000"/>
            <a:ext cx="10886846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Task: Compare the average total bill across each day of the week.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A578B-6548-35EF-AF7C-B08549E46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>
            <a:extLst>
              <a:ext uri="{FF2B5EF4-FFF2-40B4-BE49-F238E27FC236}">
                <a16:creationId xmlns:a16="http://schemas.microsoft.com/office/drawing/2014/main" id="{EB481B88-D4E4-D6DA-6CD9-07C75AAA4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>
            <a:extLst>
              <a:ext uri="{FF2B5EF4-FFF2-40B4-BE49-F238E27FC236}">
                <a16:creationId xmlns:a16="http://schemas.microsoft.com/office/drawing/2014/main" id="{D846291E-931E-5BC3-C311-FE2F446B7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72793337-ECA7-BCB0-DD5D-1E9C593AE027}"/>
              </a:ext>
            </a:extLst>
          </p:cNvPr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E3DA50-5ADD-0D4A-70BF-45271FC0FDAE}"/>
              </a:ext>
            </a:extLst>
          </p:cNvPr>
          <p:cNvSpPr txBox="1"/>
          <p:nvPr/>
        </p:nvSpPr>
        <p:spPr>
          <a:xfrm>
            <a:off x="1278294" y="1828800"/>
            <a:ext cx="100490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Task:</a:t>
            </a:r>
            <a:r>
              <a:rPr lang="en-IN" dirty="0"/>
              <a:t> Show the spread, median, and outliers of </a:t>
            </a:r>
            <a:r>
              <a:rPr lang="en-IN" dirty="0" err="1"/>
              <a:t>total_bill</a:t>
            </a:r>
            <a:r>
              <a:rPr lang="en-IN" dirty="0"/>
              <a:t> across each day using a box plot in both libraries.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Specific Parameters:</a:t>
            </a:r>
            <a:r>
              <a:rPr lang="en-IN" dirty="0"/>
              <a:t> Grouping column (day), value column (</a:t>
            </a:r>
            <a:r>
              <a:rPr lang="en-IN" dirty="0" err="1"/>
              <a:t>total_bill</a:t>
            </a:r>
            <a:r>
              <a:rPr lang="en-IN" dirty="0"/>
              <a:t>), </a:t>
            </a:r>
            <a:r>
              <a:rPr lang="en-IN" dirty="0" err="1"/>
              <a:t>color</a:t>
            </a:r>
            <a:r>
              <a:rPr lang="en-IN" dirty="0"/>
              <a:t> palette, axis labels, chart title.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Outcome:</a:t>
            </a:r>
            <a:r>
              <a:rPr lang="en-IN" dirty="0"/>
              <a:t> A box plot revealing the median bill and the variability and outliers within each day.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Outcome Parameters:</a:t>
            </a:r>
            <a:r>
              <a:rPr lang="en-IN" dirty="0"/>
              <a:t> Correct quartile calculation, visible outlier markers, consistent grouping across both versions.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Techniques to be Used:</a:t>
            </a:r>
            <a:r>
              <a:rPr lang="en-IN" dirty="0"/>
              <a:t> </a:t>
            </a:r>
            <a:r>
              <a:rPr lang="en-IN" dirty="0" err="1"/>
              <a:t>DataFrame.boxplot</a:t>
            </a:r>
            <a:r>
              <a:rPr lang="en-IN" dirty="0"/>
              <a:t>() in Matplotlib, </a:t>
            </a:r>
            <a:r>
              <a:rPr lang="en-IN" dirty="0" err="1"/>
              <a:t>sns.boxplot</a:t>
            </a:r>
            <a:r>
              <a:rPr lang="en-IN" dirty="0"/>
              <a:t>() in Seaborn.</a:t>
            </a:r>
          </a:p>
        </p:txBody>
      </p:sp>
    </p:spTree>
    <p:extLst>
      <p:ext uri="{BB962C8B-B14F-4D97-AF65-F5344CB8AC3E}">
        <p14:creationId xmlns:p14="http://schemas.microsoft.com/office/powerpoint/2010/main" val="2732097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Box Plot</a:t>
            </a:r>
            <a:endParaRPr lang="en-US" sz="4400" dirty="0"/>
          </a:p>
        </p:txBody>
      </p:sp>
      <p:sp>
        <p:nvSpPr>
          <p:cNvPr id="5" name="Rounded Rectangle 4"/>
          <p:cNvSpPr/>
          <p:nvPr/>
        </p:nvSpPr>
        <p:spPr>
          <a:xfrm>
            <a:off x="756209" y="2150000"/>
            <a:ext cx="10886846" cy="4050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6209" y="2300000"/>
            <a:ext cx="10386846" cy="3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import seaborn as sns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tips = sns.load_dataset("tips")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5A18"/>
                </a:solidFill>
                <a:latin typeface="Consolas"/>
              </a:rPr>
              <a:t># Matplotlib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tips.boxplot(column="total_bill", by="day")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plt.title("Total Bill by Day")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plt.suptitle("")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plt.xlabel("Day")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plt.ylabel("Total Bill ($)")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plt.show()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5C8A"/>
                </a:solidFill>
                <a:latin typeface="Consolas"/>
              </a:rPr>
              <a:t># Seaborn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sns.boxplot(data=tips, x="day", y="total_bill",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           palette="Set2")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plt.title("Total Bill by Day")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plt.show()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209" y="1550000"/>
            <a:ext cx="10886846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Task: Compare the spread and outliers of total_bill values across each day.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B6AF5-087A-14CE-CF24-376EF23C6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>
            <a:extLst>
              <a:ext uri="{FF2B5EF4-FFF2-40B4-BE49-F238E27FC236}">
                <a16:creationId xmlns:a16="http://schemas.microsoft.com/office/drawing/2014/main" id="{3CC31FC3-C9E7-D612-0AD3-0B4F9DEA1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>
            <a:extLst>
              <a:ext uri="{FF2B5EF4-FFF2-40B4-BE49-F238E27FC236}">
                <a16:creationId xmlns:a16="http://schemas.microsoft.com/office/drawing/2014/main" id="{076B1B6A-990C-8C49-7F14-4608E0B45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15D7066-AF3D-0670-C92B-843B3BFE2CDF}"/>
              </a:ext>
            </a:extLst>
          </p:cNvPr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</a:t>
            </a:r>
            <a:endParaRPr lang="en-US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20D02D-320F-85B4-5A1D-695E2F32D46D}"/>
              </a:ext>
            </a:extLst>
          </p:cNvPr>
          <p:cNvSpPr txBox="1"/>
          <p:nvPr/>
        </p:nvSpPr>
        <p:spPr>
          <a:xfrm>
            <a:off x="727788" y="1894113"/>
            <a:ext cx="109634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Task:</a:t>
            </a:r>
            <a:r>
              <a:rPr lang="en-IN" dirty="0"/>
              <a:t> Examine the relationship between two numeric variables (</a:t>
            </a:r>
            <a:r>
              <a:rPr lang="en-IN" dirty="0" err="1"/>
              <a:t>total_bill</a:t>
            </a:r>
            <a:r>
              <a:rPr lang="en-IN" dirty="0"/>
              <a:t> and tip) using a scatter plot in both libraries.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Specific Parameters:</a:t>
            </a:r>
            <a:r>
              <a:rPr lang="en-IN" dirty="0"/>
              <a:t> X variable (</a:t>
            </a:r>
            <a:r>
              <a:rPr lang="en-IN" dirty="0" err="1"/>
              <a:t>total_bill</a:t>
            </a:r>
            <a:r>
              <a:rPr lang="en-IN" dirty="0"/>
              <a:t>), Y variable (tip), </a:t>
            </a:r>
            <a:r>
              <a:rPr lang="en-IN" dirty="0" err="1"/>
              <a:t>color</a:t>
            </a:r>
            <a:r>
              <a:rPr lang="en-IN" dirty="0"/>
              <a:t> grouping (sex), point transparency, axis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Outcome:</a:t>
            </a:r>
            <a:r>
              <a:rPr lang="en-IN" dirty="0"/>
              <a:t> A scatter plot showing how tip amount trends with total bill, with points optionally </a:t>
            </a:r>
            <a:r>
              <a:rPr lang="en-IN" dirty="0" err="1"/>
              <a:t>colored</a:t>
            </a:r>
            <a:r>
              <a:rPr lang="en-IN" dirty="0"/>
              <a:t> by category.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Outcome Parameters:</a:t>
            </a:r>
            <a:r>
              <a:rPr lang="en-IN" dirty="0"/>
              <a:t> Accurate point placement, appropriate transparency to reveal overlapping points, clear legend when </a:t>
            </a:r>
            <a:r>
              <a:rPr lang="en-IN" dirty="0" err="1"/>
              <a:t>color</a:t>
            </a:r>
            <a:r>
              <a:rPr lang="en-IN" dirty="0"/>
              <a:t> grouping is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Techniques to be Used:</a:t>
            </a:r>
            <a:r>
              <a:rPr lang="en-IN" dirty="0"/>
              <a:t> </a:t>
            </a:r>
            <a:r>
              <a:rPr lang="en-IN" dirty="0" err="1"/>
              <a:t>plt.scatter</a:t>
            </a:r>
            <a:r>
              <a:rPr lang="en-IN" dirty="0"/>
              <a:t>() in Matplotlib, </a:t>
            </a:r>
            <a:r>
              <a:rPr lang="en-IN" dirty="0" err="1"/>
              <a:t>sns.scatterplot</a:t>
            </a:r>
            <a:r>
              <a:rPr lang="en-IN" dirty="0"/>
              <a:t>() in Seaborn, optional hue encoding.</a:t>
            </a:r>
          </a:p>
        </p:txBody>
      </p:sp>
    </p:spTree>
    <p:extLst>
      <p:ext uri="{BB962C8B-B14F-4D97-AF65-F5344CB8AC3E}">
        <p14:creationId xmlns:p14="http://schemas.microsoft.com/office/powerpoint/2010/main" val="2213209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Scatter Plot</a:t>
            </a:r>
            <a:endParaRPr lang="en-US" sz="4400" dirty="0"/>
          </a:p>
        </p:txBody>
      </p:sp>
      <p:sp>
        <p:nvSpPr>
          <p:cNvPr id="5" name="Rounded Rectangle 4"/>
          <p:cNvSpPr/>
          <p:nvPr/>
        </p:nvSpPr>
        <p:spPr>
          <a:xfrm>
            <a:off x="756209" y="2150000"/>
            <a:ext cx="10886846" cy="4050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6209" y="2300000"/>
            <a:ext cx="10386846" cy="3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import seaborn as sns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tips = sns.load_dataset("tips")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5A18"/>
                </a:solidFill>
                <a:latin typeface="Consolas"/>
              </a:rPr>
              <a:t># Matplotlib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plt.scatter(tips["total_bill"], tips["tip"],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           c="purple", alpha=0.6)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plt.title("Tip vs Total Bill")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plt.xlabel("Total Bill ($)")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plt.ylabel("Tip ($)")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plt.show()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5C8A"/>
                </a:solidFill>
                <a:latin typeface="Consolas"/>
              </a:rPr>
              <a:t># Seaborn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sns.scatterplot(data=tips, x="total_bill",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                y="tip", hue="sex")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plt.title("Tip vs Total Bill")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plt.show()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209" y="1550000"/>
            <a:ext cx="10886846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Task: Examine the relationship between total_bill and tip amount.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0714CC-E0AA-BC5D-CF85-51F9CF2F6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>
            <a:extLst>
              <a:ext uri="{FF2B5EF4-FFF2-40B4-BE49-F238E27FC236}">
                <a16:creationId xmlns:a16="http://schemas.microsoft.com/office/drawing/2014/main" id="{C2548062-480E-56CA-C373-00E768F69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>
            <a:extLst>
              <a:ext uri="{FF2B5EF4-FFF2-40B4-BE49-F238E27FC236}">
                <a16:creationId xmlns:a16="http://schemas.microsoft.com/office/drawing/2014/main" id="{7975D2D4-EE4E-7E38-95E9-7F3A30181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D1DC397-298C-DA34-5E06-B4C865D9449E}"/>
              </a:ext>
            </a:extLst>
          </p:cNvPr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B932CD-65A1-F294-4D4D-C4C4BC00128D}"/>
              </a:ext>
            </a:extLst>
          </p:cNvPr>
          <p:cNvSpPr txBox="1"/>
          <p:nvPr/>
        </p:nvSpPr>
        <p:spPr>
          <a:xfrm>
            <a:off x="1246909" y="2019992"/>
            <a:ext cx="10449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Task:</a:t>
            </a:r>
            <a:r>
              <a:rPr lang="en-IN" dirty="0"/>
              <a:t> Visualize how the numeric columns in the dataset correlate with one another using a heatmap in both libraries.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Specific Parameters:</a:t>
            </a:r>
            <a:r>
              <a:rPr lang="en-IN" dirty="0"/>
              <a:t> Correlation matrix (numeric columns only), </a:t>
            </a:r>
            <a:r>
              <a:rPr lang="en-IN" dirty="0" err="1"/>
              <a:t>color</a:t>
            </a:r>
            <a:r>
              <a:rPr lang="en-IN" dirty="0"/>
              <a:t> map (</a:t>
            </a:r>
            <a:r>
              <a:rPr lang="en-IN" dirty="0" err="1"/>
              <a:t>coolwarm</a:t>
            </a:r>
            <a:r>
              <a:rPr lang="en-IN" dirty="0"/>
              <a:t>), cell annotations, axis tick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Outcome:</a:t>
            </a:r>
            <a:r>
              <a:rPr lang="en-IN" dirty="0"/>
              <a:t> A heatmap highlighting which numeric variables move together, plus a saved PNG of the final chart.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Outcome Parameters:</a:t>
            </a:r>
            <a:r>
              <a:rPr lang="en-IN" dirty="0"/>
              <a:t> Correct correlation values, readable </a:t>
            </a:r>
            <a:r>
              <a:rPr lang="en-IN" dirty="0" err="1"/>
              <a:t>color</a:t>
            </a:r>
            <a:r>
              <a:rPr lang="en-IN" dirty="0"/>
              <a:t> scale, exported PNG file as proof of completion.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Techniques to be Used:</a:t>
            </a:r>
            <a:r>
              <a:rPr lang="en-IN" dirty="0"/>
              <a:t> </a:t>
            </a:r>
            <a:r>
              <a:rPr lang="en-IN" dirty="0" err="1"/>
              <a:t>DataFrame.corr</a:t>
            </a:r>
            <a:r>
              <a:rPr lang="en-IN" dirty="0"/>
              <a:t>(), </a:t>
            </a:r>
            <a:r>
              <a:rPr lang="en-IN" dirty="0" err="1"/>
              <a:t>plt.imshow</a:t>
            </a:r>
            <a:r>
              <a:rPr lang="en-IN" dirty="0"/>
              <a:t>() + </a:t>
            </a:r>
            <a:r>
              <a:rPr lang="en-IN" dirty="0" err="1"/>
              <a:t>colorbar</a:t>
            </a:r>
            <a:r>
              <a:rPr lang="en-IN" dirty="0"/>
              <a:t> in Matplotlib, </a:t>
            </a:r>
            <a:r>
              <a:rPr lang="en-IN" dirty="0" err="1"/>
              <a:t>sns.heatmap</a:t>
            </a:r>
            <a:r>
              <a:rPr lang="en-IN" dirty="0"/>
              <a:t>() in Seaborn, </a:t>
            </a:r>
            <a:r>
              <a:rPr lang="en-IN" dirty="0" err="1"/>
              <a:t>plt.savefig</a:t>
            </a:r>
            <a:r>
              <a:rPr lang="en-IN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4218815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Correlation Heatmap</a:t>
            </a:r>
            <a:endParaRPr lang="en-US" sz="4400" dirty="0"/>
          </a:p>
        </p:txBody>
      </p:sp>
      <p:sp>
        <p:nvSpPr>
          <p:cNvPr id="5" name="Rounded Rectangle 4"/>
          <p:cNvSpPr/>
          <p:nvPr/>
        </p:nvSpPr>
        <p:spPr>
          <a:xfrm>
            <a:off x="756209" y="2150000"/>
            <a:ext cx="10886846" cy="40500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6209" y="2300000"/>
            <a:ext cx="10386846" cy="3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import seaborn as sns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import matplotlib.pyplot as plt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tips = sns.load_dataset("tips")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corr = tips.corr(numeric_only=True)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5A18"/>
                </a:solidFill>
                <a:latin typeface="Consolas"/>
              </a:rPr>
              <a:t># Matplotlib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plt.imshow(corr, cmap="coolwarm")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plt.colorbar()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plt.xticks(range(len(corr)), corr.columns, rotation=45)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plt.yticks(range(len(corr)), corr.columns)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plt.title("Correlation Heatmap")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plt.show()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5C8A"/>
                </a:solidFill>
                <a:latin typeface="Consolas"/>
              </a:rPr>
              <a:t># Seaborn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sns.heatmap(corr, annot=True, cmap="coolwarm")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plt.title("Correlation Heatmap")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plt.savefig("correlation_heatmap.png")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Consolas"/>
              </a:rPr>
              <a:t>plt.show()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209" y="1550000"/>
            <a:ext cx="10886846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Task: Visualize how the numeric columns in the dataset correlate with each other.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&amp; Deliver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756209" y="1600200"/>
            <a:ext cx="10886846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Style every chart: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Adjust labels, titles, font sizes, and color palettes so each chart is clear and easy to read.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Save your work: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Export at least one chart as a PNG file to complete the exercise.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 0" descr="/home/claude/template_extract/page0_img0.jpeg">
            <a:extLst>
              <a:ext uri="{FF2B5EF4-FFF2-40B4-BE49-F238E27FC236}">
                <a16:creationId xmlns:a16="http://schemas.microsoft.com/office/drawing/2014/main" id="{3E04187D-C26B-1E96-1D41-6FAD86120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90" name="Image 1" descr="/home/claude/template_extract/page0_img1.jpeg">
            <a:extLst>
              <a:ext uri="{FF2B5EF4-FFF2-40B4-BE49-F238E27FC236}">
                <a16:creationId xmlns:a16="http://schemas.microsoft.com/office/drawing/2014/main" id="{B1A37B9E-A021-E9C5-A20C-D66610A24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9513" y="423889"/>
            <a:ext cx="1365327" cy="1206778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A9C992E8-6A8E-D71D-3388-FAE9DF3FB878}"/>
              </a:ext>
            </a:extLst>
          </p:cNvPr>
          <p:cNvSpPr txBox="1"/>
          <p:nvPr/>
        </p:nvSpPr>
        <p:spPr>
          <a:xfrm>
            <a:off x="1810139" y="345233"/>
            <a:ext cx="8108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Use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756209" y="2500000"/>
            <a:ext cx="1957913" cy="2100000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Python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Core language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988442" y="2500000"/>
            <a:ext cx="1957913" cy="2100000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Matplotlib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Foundational plotting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220675" y="2500000"/>
            <a:ext cx="1957913" cy="2100000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Seaborn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Statistical, styled charts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452908" y="2500000"/>
            <a:ext cx="1957913" cy="2100000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Pandas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Data loading &amp; wrangling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685141" y="2500000"/>
            <a:ext cx="1957913" cy="2100000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Jupyter Notebook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Interactive workspace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6209" y="4950000"/>
            <a:ext cx="10886846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666666"/>
                </a:solidFill>
                <a:latin typeface="Calibri"/>
              </a:rPr>
              <a:t>Pandas loads the data, Matplotlib and Seaborn turn it into charts, and Jupyter Notebook ties it all together.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 0" descr="/home/claude/template_extract/page0_img0.jpeg">
            <a:extLst>
              <a:ext uri="{FF2B5EF4-FFF2-40B4-BE49-F238E27FC236}">
                <a16:creationId xmlns:a16="http://schemas.microsoft.com/office/drawing/2014/main" id="{3E04187D-C26B-1E96-1D41-6FAD86120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90" name="Image 1" descr="/home/claude/template_extract/page0_img1.jpeg">
            <a:extLst>
              <a:ext uri="{FF2B5EF4-FFF2-40B4-BE49-F238E27FC236}">
                <a16:creationId xmlns:a16="http://schemas.microsoft.com/office/drawing/2014/main" id="{B1A37B9E-A021-E9C5-A20C-D66610A24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9513" y="423889"/>
            <a:ext cx="1365327" cy="1206778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A9C992E8-6A8E-D71D-3388-FAE9DF3FB878}"/>
              </a:ext>
            </a:extLst>
          </p:cNvPr>
          <p:cNvSpPr txBox="1"/>
          <p:nvPr/>
        </p:nvSpPr>
        <p:spPr>
          <a:xfrm>
            <a:off x="1810139" y="345233"/>
            <a:ext cx="8108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756209" y="1737383"/>
            <a:ext cx="3300000" cy="1601746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1. Load Dataset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49632" y="1737383"/>
            <a:ext cx="3300000" cy="1601746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2. Build in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Matplotlib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343055" y="1737383"/>
            <a:ext cx="3300000" cy="1601746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3. Build in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Seaborn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343055" y="4300000"/>
            <a:ext cx="3300000" cy="1601746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4. Customize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Styling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49632" y="4300000"/>
            <a:ext cx="3300000" cy="1601746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5. Save as PNG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56209" y="4300000"/>
            <a:ext cx="3300000" cy="1601746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6. Submit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Get Feedback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4056209" y="2538256"/>
            <a:ext cx="493423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7849632" y="2538256"/>
            <a:ext cx="493423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993055" y="3339129"/>
            <a:ext cx="0" cy="96087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7849632" y="5100873"/>
            <a:ext cx="493423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4056209" y="5100873"/>
            <a:ext cx="493423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756209" y="1600200"/>
            <a:ext cx="10886846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Library differences: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When Matplotlib’s fine-grained control is worth the extra code, and when Seaborn’s higher-level defaults get you there faster.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800" indent="-304800" algn="l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 A foundation for what’s next: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Comfort with both libraries’ syntax and styling options, ready for more complex visualizations down the line.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extract/page0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" y="192024"/>
            <a:ext cx="1134770" cy="1343254"/>
          </a:xfrm>
          <a:prstGeom prst="rect">
            <a:avLst/>
          </a:prstGeom>
        </p:spPr>
      </p:pic>
      <p:pic>
        <p:nvPicPr>
          <p:cNvPr id="3" name="Image 1" descr="/home/claude/template_extract/page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86" y="192024"/>
            <a:ext cx="1519733" cy="13432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628193"/>
            <a:ext cx="12191695" cy="558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756209" y="1600200"/>
            <a:ext cx="10886846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200" indent="-457200" algn="l">
              <a:lnSpc>
                <a:spcPct val="110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Matplotlib Development Team.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Matplotlib: Visualization with Python (official documentation).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Aft>
                <a:spcPts val="1400"/>
              </a:spcAft>
              <a:buNone/>
            </a:pPr>
            <a:r>
              <a:rPr sz="1300" i="0">
                <a:solidFill>
                  <a:srgbClr val="666666"/>
                </a:solidFill>
                <a:latin typeface="Calibri"/>
              </a:rPr>
              <a:t>matplotlib.org</a:t>
            </a:r>
          </a:p>
          <a:p>
            <a:pPr marL="457200" indent="-457200" algn="l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Waskom, M.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seaborn: statistical data visualization (official documentation).</a:t>
            </a:r>
          </a:p>
          <a:p>
            <a:pPr marL="457200" indent="-457200" algn="l">
              <a:spcAft>
                <a:spcPts val="1400"/>
              </a:spcAft>
              <a:buNone/>
            </a:pPr>
            <a:r>
              <a:rPr sz="1300" i="0">
                <a:solidFill>
                  <a:srgbClr val="666666"/>
                </a:solidFill>
                <a:latin typeface="Calibri"/>
              </a:rPr>
              <a:t>seaborn.pydata.org</a:t>
            </a:r>
          </a:p>
          <a:p>
            <a:pPr marL="457200" indent="-457200" algn="l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pandas Development Team.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Chart Visualization (pandas user guide).</a:t>
            </a:r>
          </a:p>
          <a:p>
            <a:pPr marL="457200" indent="-457200" algn="l">
              <a:spcAft>
                <a:spcPts val="1400"/>
              </a:spcAft>
              <a:buNone/>
            </a:pPr>
            <a:r>
              <a:rPr sz="1300" i="0">
                <a:solidFill>
                  <a:srgbClr val="666666"/>
                </a:solidFill>
                <a:latin typeface="Calibri"/>
              </a:rPr>
              <a:t>pandas.pydata.org/docs/user_guide/visualization.html</a:t>
            </a:r>
          </a:p>
          <a:p>
            <a:pPr marL="457200" indent="-457200" algn="l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VanderPlas, J. (2016).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Python Data Science Handbook, Chapter 4: Visualization with Matplotlib. O’Reilly Media.</a:t>
            </a:r>
          </a:p>
          <a:p>
            <a:pPr marL="457200" indent="-457200" algn="l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Towards Data Science.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“Introduction to Data Visualization in Python” — a similar walkthrough project using different datasets.</a:t>
            </a:r>
          </a:p>
          <a:p>
            <a:pPr marL="457200" indent="-457200" algn="l">
              <a:spcAft>
                <a:spcPts val="1400"/>
              </a:spcAft>
              <a:buNone/>
            </a:pPr>
            <a:r>
              <a:rPr sz="1300" i="0">
                <a:solidFill>
                  <a:srgbClr val="666666"/>
                </a:solidFill>
                <a:latin typeface="Calibri"/>
              </a:rPr>
              <a:t>towardsdatascience.com/introduction-to-data-visualization-in-python-89a54c97fbed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1651</TotalTime>
  <Words>1966</Words>
  <Application>Microsoft Office PowerPoint</Application>
  <PresentationFormat>Widescreen</PresentationFormat>
  <Paragraphs>215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Punitha Sankar</cp:lastModifiedBy>
  <cp:revision>9</cp:revision>
  <dcterms:created xsi:type="dcterms:W3CDTF">2026-08-01T05:21:52Z</dcterms:created>
  <dcterms:modified xsi:type="dcterms:W3CDTF">2026-09-03T08:58:12Z</dcterms:modified>
</cp:coreProperties>
</file>